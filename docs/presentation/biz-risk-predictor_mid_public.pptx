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맑은 고딕" panose="020B0503020000020004" pitchFamily="34" charset="-127"/>
      <p:regular r:id="rId10"/>
      <p:bold r:id="rId11"/>
    </p:embeddedFont>
    <p:embeddedFont>
      <p:font typeface="Pretendard" panose="02000503000000020004" pitchFamily="2" charset="-127"/>
      <p:regular r:id="rId12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90"/>
    <p:restoredTop sz="81301"/>
  </p:normalViewPr>
  <p:slideViewPr>
    <p:cSldViewPr snapToGrid="0" snapToObjects="1">
      <p:cViewPr varScale="1">
        <p:scale>
          <a:sx n="135" d="100"/>
          <a:sy n="135" d="100"/>
        </p:scale>
        <p:origin x="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115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/>
            </a:r>
            <a:r>
              <a:rPr lang="en-US" altLang="ko-KR" dirty="0"/>
              <a:t/>
            </a:r>
          </a:p>
          <a:p>
            <a:r>
              <a:rPr lang="ko-KR" altLang="en-US" dirty="0"/>
              <a:t/>
            </a:r>
            <a:r>
              <a:rPr lang="ko-KR" altLang="en-US" dirty="0" err="1"/>
              <a:t/>
            </a:r>
            <a:r>
              <a:rPr lang="en-US" altLang="ko-KR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</a:p>
          <a:p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</a:p>
          <a:p>
            <a:endParaRPr lang="en-US" altLang="ko-KR" dirty="0"/>
          </a:p>
          <a:p>
            <a:r>
              <a:rPr lang="ko-KR" altLang="en-US" dirty="0"/>
              <a:t/>
            </a:r>
            <a:r>
              <a:rPr lang="en-US" altLang="ko-KR"/>
              <a:t/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457200"/>
            <a:ext cx="54864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713232"/>
            <a:ext cx="5486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1"/>
                </a:solidFill>
              </a:rPr>
              <a:t>상권 폐업 위험도 진단 서비스</a:t>
            </a:r>
            <a:endParaRPr lang="en-US" sz="4400" dirty="0"/>
          </a:p>
        </p:txBody>
      </p:sp>
      <p:sp>
        <p:nvSpPr>
          <p:cNvPr id="3" name="text-2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서울시 상권 공공데이터 기반 다음 분기 폐업 위험 예측과 원인 분석</a:t>
            </a:r>
            <a:endParaRPr lang="en-US" sz="1600" dirty="0"/>
          </a:p>
        </p:txBody>
      </p:sp>
      <p:sp>
        <p:nvSpPr>
          <p:cNvPr id="4" name="text-3"/>
          <p:cNvSpPr txBox="1"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데이터사이언스활용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202411523 정의현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tx2"/>
                </a:solidFill>
              </a:rPr>
              <a:t>CONTENTS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7132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목차</a:t>
            </a:r>
            <a:endParaRPr lang="en-US" sz="3600" dirty="0"/>
          </a:p>
        </p:txBody>
      </p:sp>
      <p:sp>
        <p:nvSpPr>
          <p:cNvPr id="4" name="text-5"/>
          <p:cNvSpPr txBox="1"/>
          <p:nvPr/>
        </p:nvSpPr>
        <p:spPr>
          <a:xfrm>
            <a:off x="7406640" y="4681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02</a:t>
            </a:r>
            <a:r>
              <a:rPr lang="en-US" sz="1000" dirty="0">
                <a:solidFill>
                  <a:schemeClr val="accent3"/>
                </a:solidFill>
              </a:rPr>
              <a:t>  /  07</a:t>
            </a:r>
            <a:endParaRPr lang="en-US" sz="1000" dirty="0"/>
          </a:p>
        </p:txBody>
      </p:sp>
      <p:sp>
        <p:nvSpPr>
          <p:cNvPr id="5" name="text-6"/>
          <p:cNvSpPr txBox="1"/>
          <p:nvPr/>
        </p:nvSpPr>
        <p:spPr>
          <a:xfrm>
            <a:off x="822960" y="2139696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text-7"/>
          <p:cNvSpPr txBox="1"/>
          <p:nvPr/>
        </p:nvSpPr>
        <p:spPr>
          <a:xfrm>
            <a:off x="822960" y="2916936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프로젝트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개요</a:t>
            </a:r>
            <a:endParaRPr lang="en-US" sz="1600" dirty="0"/>
          </a:p>
        </p:txBody>
      </p:sp>
      <p:sp>
        <p:nvSpPr>
          <p:cNvPr id="7" name="text-8"/>
          <p:cNvSpPr txBox="1"/>
          <p:nvPr/>
        </p:nvSpPr>
        <p:spPr>
          <a:xfrm>
            <a:off x="2322576" y="2139696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02</a:t>
            </a:r>
            <a:endParaRPr lang="en-US" sz="3600" dirty="0"/>
          </a:p>
        </p:txBody>
      </p:sp>
      <p:sp>
        <p:nvSpPr>
          <p:cNvPr id="8" name="text-9"/>
          <p:cNvSpPr txBox="1"/>
          <p:nvPr/>
        </p:nvSpPr>
        <p:spPr>
          <a:xfrm>
            <a:off x="2322576" y="2916936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데이터셋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확보 방법</a:t>
            </a:r>
            <a:endParaRPr lang="en-US" sz="1600" dirty="0"/>
          </a:p>
        </p:txBody>
      </p:sp>
      <p:sp>
        <p:nvSpPr>
          <p:cNvPr id="9" name="divider-10"/>
          <p:cNvSpPr/>
          <p:nvPr/>
        </p:nvSpPr>
        <p:spPr>
          <a:xfrm>
            <a:off x="2322576" y="1929384"/>
            <a:ext cx="0" cy="169164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11"/>
          <p:cNvSpPr txBox="1"/>
          <p:nvPr/>
        </p:nvSpPr>
        <p:spPr>
          <a:xfrm>
            <a:off x="3822192" y="2139696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03</a:t>
            </a:r>
            <a:endParaRPr lang="en-US" sz="3600" dirty="0"/>
          </a:p>
        </p:txBody>
      </p:sp>
      <p:sp>
        <p:nvSpPr>
          <p:cNvPr id="11" name="text-12"/>
          <p:cNvSpPr txBox="1"/>
          <p:nvPr/>
        </p:nvSpPr>
        <p:spPr>
          <a:xfrm>
            <a:off x="3822192" y="2916936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데이터셋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설명</a:t>
            </a:r>
            <a:endParaRPr lang="en-US" sz="1600" dirty="0"/>
          </a:p>
        </p:txBody>
      </p:sp>
      <p:sp>
        <p:nvSpPr>
          <p:cNvPr id="12" name="divider-13"/>
          <p:cNvSpPr/>
          <p:nvPr/>
        </p:nvSpPr>
        <p:spPr>
          <a:xfrm>
            <a:off x="3822192" y="1929384"/>
            <a:ext cx="0" cy="169164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4"/>
          <p:cNvSpPr txBox="1"/>
          <p:nvPr/>
        </p:nvSpPr>
        <p:spPr>
          <a:xfrm>
            <a:off x="5321808" y="2139696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04</a:t>
            </a:r>
            <a:endParaRPr lang="en-US" sz="3600" dirty="0"/>
          </a:p>
        </p:txBody>
      </p:sp>
      <p:sp>
        <p:nvSpPr>
          <p:cNvPr id="14" name="text-15"/>
          <p:cNvSpPr txBox="1"/>
          <p:nvPr/>
        </p:nvSpPr>
        <p:spPr>
          <a:xfrm>
            <a:off x="5321808" y="2916936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데이터셋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예시</a:t>
            </a:r>
            <a:endParaRPr lang="en-US" sz="1600" dirty="0"/>
          </a:p>
        </p:txBody>
      </p:sp>
      <p:sp>
        <p:nvSpPr>
          <p:cNvPr id="15" name="divider-16"/>
          <p:cNvSpPr/>
          <p:nvPr/>
        </p:nvSpPr>
        <p:spPr>
          <a:xfrm>
            <a:off x="5321808" y="1929384"/>
            <a:ext cx="0" cy="169164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7"/>
          <p:cNvSpPr txBox="1"/>
          <p:nvPr/>
        </p:nvSpPr>
        <p:spPr>
          <a:xfrm>
            <a:off x="6821424" y="2139696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05</a:t>
            </a:r>
            <a:endParaRPr lang="en-US" sz="3600" dirty="0"/>
          </a:p>
        </p:txBody>
      </p:sp>
      <p:sp>
        <p:nvSpPr>
          <p:cNvPr id="17" name="text-18"/>
          <p:cNvSpPr txBox="1"/>
          <p:nvPr/>
        </p:nvSpPr>
        <p:spPr>
          <a:xfrm>
            <a:off x="6821424" y="2916936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향후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계획</a:t>
            </a:r>
            <a:endParaRPr lang="en-US" sz="1600" dirty="0"/>
          </a:p>
        </p:txBody>
      </p:sp>
      <p:sp>
        <p:nvSpPr>
          <p:cNvPr id="18" name="divider-19"/>
          <p:cNvSpPr/>
          <p:nvPr/>
        </p:nvSpPr>
        <p:spPr>
          <a:xfrm>
            <a:off x="6821424" y="1929384"/>
            <a:ext cx="0" cy="169164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tx2"/>
                </a:solidFill>
              </a:rPr>
              <a:t>01  ·  PROJECT OVERVIEW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7132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프로젝트 개요</a:t>
            </a:r>
            <a:endParaRPr lang="en-US" sz="3600" dirty="0"/>
          </a:p>
        </p:txBody>
      </p:sp>
      <p:sp>
        <p:nvSpPr>
          <p:cNvPr id="4" name="text-20"/>
          <p:cNvSpPr txBox="1"/>
          <p:nvPr/>
        </p:nvSpPr>
        <p:spPr>
          <a:xfrm>
            <a:off x="7406640" y="4681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03</a:t>
            </a:r>
            <a:r>
              <a:rPr lang="en-US" sz="1000" dirty="0">
                <a:solidFill>
                  <a:schemeClr val="accent3"/>
                </a:solidFill>
              </a:rPr>
              <a:t>  /  07</a:t>
            </a:r>
            <a:endParaRPr lang="en-US" sz="1000" dirty="0"/>
          </a:p>
        </p:txBody>
      </p:sp>
      <p:sp>
        <p:nvSpPr>
          <p:cNvPr id="5" name="text-21"/>
          <p:cNvSpPr txBox="1"/>
          <p:nvPr/>
        </p:nvSpPr>
        <p:spPr>
          <a:xfrm>
            <a:off x="146304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PROBLEM</a:t>
            </a:r>
            <a:endParaRPr lang="en-US" sz="1000" dirty="0"/>
          </a:p>
        </p:txBody>
      </p:sp>
      <p:sp>
        <p:nvSpPr>
          <p:cNvPr id="6" name="text-22"/>
          <p:cNvSpPr txBox="1"/>
          <p:nvPr/>
        </p:nvSpPr>
        <p:spPr>
          <a:xfrm>
            <a:off x="1463040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문제</a:t>
            </a:r>
            <a:endParaRPr lang="en-US" sz="1800" dirty="0"/>
          </a:p>
        </p:txBody>
      </p:sp>
      <p:sp>
        <p:nvSpPr>
          <p:cNvPr id="7" name="text-23"/>
          <p:cNvSpPr txBox="1"/>
          <p:nvPr/>
        </p:nvSpPr>
        <p:spPr>
          <a:xfrm>
            <a:off x="1600200" y="2423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기존 서비스(서울시 상권분석서비스 등)는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현황·순위만 보여주고, 다음 분기 위험 예측과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지표별 원인 설명은 제공하지 않음</a:t>
            </a:r>
            <a:endParaRPr lang="en-US" sz="1200" dirty="0"/>
          </a:p>
        </p:txBody>
      </p:sp>
      <p:sp>
        <p:nvSpPr>
          <p:cNvPr id="8" name="text-24"/>
          <p:cNvSpPr txBox="1"/>
          <p:nvPr/>
        </p:nvSpPr>
        <p:spPr>
          <a:xfrm>
            <a:off x="457200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GOAL</a:t>
            </a:r>
            <a:endParaRPr lang="en-US" sz="1000" dirty="0"/>
          </a:p>
        </p:txBody>
      </p:sp>
      <p:sp>
        <p:nvSpPr>
          <p:cNvPr id="9" name="text-25"/>
          <p:cNvSpPr txBox="1"/>
          <p:nvPr/>
        </p:nvSpPr>
        <p:spPr>
          <a:xfrm>
            <a:off x="4572000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목표</a:t>
            </a:r>
            <a:endParaRPr lang="en-US" sz="1800" dirty="0"/>
          </a:p>
        </p:txBody>
      </p:sp>
      <p:sp>
        <p:nvSpPr>
          <p:cNvPr id="10" name="text-26"/>
          <p:cNvSpPr txBox="1"/>
          <p:nvPr/>
        </p:nvSpPr>
        <p:spPr>
          <a:xfrm>
            <a:off x="470916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서울시 행정동 × 업종별로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다음 분기 폐업 위험도를 예측하고 원인을 설명</a:t>
            </a:r>
            <a:endParaRPr lang="en-US" sz="1200" dirty="0"/>
          </a:p>
        </p:txBody>
      </p:sp>
      <p:sp>
        <p:nvSpPr>
          <p:cNvPr id="11" name="text-27"/>
          <p:cNvSpPr txBox="1"/>
          <p:nvPr/>
        </p:nvSpPr>
        <p:spPr>
          <a:xfrm>
            <a:off x="1463040" y="3246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METHOD</a:t>
            </a:r>
            <a:endParaRPr lang="en-US" sz="1000" dirty="0"/>
          </a:p>
        </p:txBody>
      </p:sp>
      <p:sp>
        <p:nvSpPr>
          <p:cNvPr id="12" name="text-28"/>
          <p:cNvSpPr txBox="1"/>
          <p:nvPr/>
        </p:nvSpPr>
        <p:spPr>
          <a:xfrm>
            <a:off x="1463040" y="3502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방법</a:t>
            </a:r>
            <a:endParaRPr lang="en-US" sz="1800" dirty="0"/>
          </a:p>
        </p:txBody>
      </p:sp>
      <p:sp>
        <p:nvSpPr>
          <p:cNvPr id="13" name="text-29"/>
          <p:cNvSpPr txBox="1"/>
          <p:nvPr/>
        </p:nvSpPr>
        <p:spPr>
          <a:xfrm>
            <a:off x="160020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결정 트리 · 랜덤 포레스트로 예측하고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지표별로 위험에 미친 영향을 분석</a:t>
            </a:r>
            <a:endParaRPr lang="en-US" sz="1200" dirty="0"/>
          </a:p>
        </p:txBody>
      </p:sp>
      <p:sp>
        <p:nvSpPr>
          <p:cNvPr id="14" name="text-30"/>
          <p:cNvSpPr txBox="1"/>
          <p:nvPr/>
        </p:nvSpPr>
        <p:spPr>
          <a:xfrm>
            <a:off x="4572000" y="3246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text-31"/>
          <p:cNvSpPr txBox="1"/>
          <p:nvPr/>
        </p:nvSpPr>
        <p:spPr>
          <a:xfrm>
            <a:off x="4572000" y="3502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결과물</a:t>
            </a:r>
            <a:endParaRPr lang="en-US" sz="1800" dirty="0"/>
          </a:p>
        </p:txBody>
      </p:sp>
      <p:sp>
        <p:nvSpPr>
          <p:cNvPr id="16" name="text-32"/>
          <p:cNvSpPr txBox="1"/>
          <p:nvPr/>
        </p:nvSpPr>
        <p:spPr>
          <a:xfrm>
            <a:off x="470916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지역·업종을 고르면 위험도, 위험 요인,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진단 문장을 보여주는 웹 서비스</a:t>
            </a:r>
            <a:endParaRPr lang="en-US" sz="1200" dirty="0"/>
          </a:p>
        </p:txBody>
      </p:sp>
      <p:sp>
        <p:nvSpPr>
          <p:cNvPr id="17" name="divider-33"/>
          <p:cNvSpPr/>
          <p:nvPr/>
        </p:nvSpPr>
        <p:spPr>
          <a:xfrm>
            <a:off x="4572000" y="1600200"/>
            <a:ext cx="0" cy="283464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divider-34"/>
          <p:cNvSpPr/>
          <p:nvPr/>
        </p:nvSpPr>
        <p:spPr>
          <a:xfrm>
            <a:off x="1737360" y="3108960"/>
            <a:ext cx="56692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tx2"/>
                </a:solidFill>
              </a:rPr>
              <a:t>02  ·  DATA ACQUISITION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7132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데이터셋 확보 방법</a:t>
            </a:r>
            <a:endParaRPr lang="en-US" sz="3600" dirty="0"/>
          </a:p>
        </p:txBody>
      </p:sp>
      <p:sp>
        <p:nvSpPr>
          <p:cNvPr id="4" name="text-35"/>
          <p:cNvSpPr txBox="1"/>
          <p:nvPr/>
        </p:nvSpPr>
        <p:spPr>
          <a:xfrm>
            <a:off x="7406640" y="4681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04</a:t>
            </a:r>
            <a:r>
              <a:rPr lang="en-US" sz="1000" dirty="0">
                <a:solidFill>
                  <a:schemeClr val="accent3"/>
                </a:solidFill>
              </a:rPr>
              <a:t>  /  07</a:t>
            </a:r>
            <a:endParaRPr lang="en-US" sz="1000" dirty="0"/>
          </a:p>
        </p:txBody>
      </p:sp>
      <p:sp>
        <p:nvSpPr>
          <p:cNvPr id="5" name="text-36"/>
          <p:cNvSpPr txBox="1"/>
          <p:nvPr/>
        </p:nvSpPr>
        <p:spPr>
          <a:xfrm>
            <a:off x="86868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-37"/>
          <p:cNvSpPr txBox="1"/>
          <p:nvPr/>
        </p:nvSpPr>
        <p:spPr>
          <a:xfrm>
            <a:off x="8686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서울 열린데이터광장</a:t>
            </a:r>
            <a:endParaRPr lang="en-US" sz="1800" dirty="0"/>
          </a:p>
        </p:txBody>
      </p:sp>
      <p:sp>
        <p:nvSpPr>
          <p:cNvPr id="7" name="text-38"/>
          <p:cNvSpPr txBox="1"/>
          <p:nvPr/>
        </p:nvSpPr>
        <p:spPr>
          <a:xfrm>
            <a:off x="86868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data.seoul.go.kr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서울시 상권분석서비스 Open API</a:t>
            </a:r>
            <a:endParaRPr lang="en-US" sz="1200" dirty="0"/>
          </a:p>
        </p:txBody>
      </p:sp>
      <p:sp>
        <p:nvSpPr>
          <p:cNvPr id="8" name="text-39"/>
          <p:cNvSpPr txBox="1"/>
          <p:nvPr/>
        </p:nvSpPr>
        <p:spPr>
          <a:xfrm>
            <a:off x="333756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02</a:t>
            </a:r>
            <a:endParaRPr lang="en-US" sz="2200" dirty="0"/>
          </a:p>
        </p:txBody>
      </p:sp>
      <p:sp>
        <p:nvSpPr>
          <p:cNvPr id="9" name="text-40"/>
          <p:cNvSpPr txBox="1"/>
          <p:nvPr/>
        </p:nvSpPr>
        <p:spPr>
          <a:xfrm>
            <a:off x="333756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Python으로 수집</a:t>
            </a:r>
            <a:endParaRPr lang="en-US" sz="1800" dirty="0"/>
          </a:p>
        </p:txBody>
      </p:sp>
      <p:sp>
        <p:nvSpPr>
          <p:cNvPr id="10" name="text-41"/>
          <p:cNvSpPr txBox="1"/>
          <p:nvPr/>
        </p:nvSpPr>
        <p:spPr>
          <a:xfrm>
            <a:off x="333756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1회 최대 1,000건씩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나눠서 반복 호출</a:t>
            </a:r>
            <a:endParaRPr lang="en-US" sz="1200" dirty="0"/>
          </a:p>
        </p:txBody>
      </p:sp>
      <p:sp>
        <p:nvSpPr>
          <p:cNvPr id="11" name="text-42"/>
          <p:cNvSpPr txBox="1"/>
          <p:nvPr/>
        </p:nvSpPr>
        <p:spPr>
          <a:xfrm>
            <a:off x="310896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3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-43"/>
          <p:cNvSpPr txBox="1"/>
          <p:nvPr/>
        </p:nvSpPr>
        <p:spPr>
          <a:xfrm>
            <a:off x="580644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03</a:t>
            </a:r>
            <a:endParaRPr lang="en-US" sz="2200" dirty="0"/>
          </a:p>
        </p:txBody>
      </p:sp>
      <p:sp>
        <p:nvSpPr>
          <p:cNvPr id="13" name="text-44"/>
          <p:cNvSpPr txBox="1"/>
          <p:nvPr/>
        </p:nvSpPr>
        <p:spPr>
          <a:xfrm>
            <a:off x="580644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CSV로 저장</a:t>
            </a:r>
            <a:endParaRPr lang="en-US" sz="1800" dirty="0"/>
          </a:p>
        </p:txBody>
      </p:sp>
      <p:sp>
        <p:nvSpPr>
          <p:cNvPr id="14" name="text-45"/>
          <p:cNvSpPr txBox="1"/>
          <p:nvPr/>
        </p:nvSpPr>
        <p:spPr>
          <a:xfrm>
            <a:off x="580644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stores.csv · sales.csv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flpop.csv</a:t>
            </a:r>
            <a:endParaRPr lang="en-US" sz="1200" dirty="0"/>
          </a:p>
        </p:txBody>
      </p:sp>
      <p:sp>
        <p:nvSpPr>
          <p:cNvPr id="15" name="text-46"/>
          <p:cNvSpPr txBox="1"/>
          <p:nvPr/>
        </p:nvSpPr>
        <p:spPr>
          <a:xfrm>
            <a:off x="557784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3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box-47"/>
          <p:cNvSpPr/>
          <p:nvPr/>
        </p:nvSpPr>
        <p:spPr>
          <a:xfrm>
            <a:off x="1051560" y="3154680"/>
            <a:ext cx="7040880" cy="114300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-48"/>
          <p:cNvSpPr txBox="1"/>
          <p:nvPr/>
        </p:nvSpPr>
        <p:spPr>
          <a:xfrm>
            <a:off x="1051560" y="333756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OA-22172</a:t>
            </a:r>
            <a:endParaRPr lang="en-US" sz="1100" dirty="0"/>
          </a:p>
        </p:txBody>
      </p:sp>
      <p:sp>
        <p:nvSpPr>
          <p:cNvPr id="18" name="text-49"/>
          <p:cNvSpPr txBox="1"/>
          <p:nvPr/>
        </p:nvSpPr>
        <p:spPr>
          <a:xfrm>
            <a:off x="1051560" y="3584448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점포-행정동</a:t>
            </a:r>
            <a:endParaRPr lang="en-US" sz="1400" dirty="0"/>
          </a:p>
        </p:txBody>
      </p:sp>
      <p:sp>
        <p:nvSpPr>
          <p:cNvPr id="19" name="text-50"/>
          <p:cNvSpPr txBox="1"/>
          <p:nvPr/>
        </p:nvSpPr>
        <p:spPr>
          <a:xfrm>
            <a:off x="1051560" y="3877056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775,084행</a:t>
            </a:r>
            <a:endParaRPr lang="en-US" sz="1400" dirty="0"/>
          </a:p>
        </p:txBody>
      </p:sp>
      <p:sp>
        <p:nvSpPr>
          <p:cNvPr id="20" name="text-51"/>
          <p:cNvSpPr txBox="1"/>
          <p:nvPr/>
        </p:nvSpPr>
        <p:spPr>
          <a:xfrm>
            <a:off x="3398520" y="333756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OA-22175</a:t>
            </a:r>
            <a:endParaRPr lang="en-US" sz="1100" dirty="0"/>
          </a:p>
        </p:txBody>
      </p:sp>
      <p:sp>
        <p:nvSpPr>
          <p:cNvPr id="21" name="text-52"/>
          <p:cNvSpPr txBox="1"/>
          <p:nvPr/>
        </p:nvSpPr>
        <p:spPr>
          <a:xfrm>
            <a:off x="3398520" y="3584448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추정매출-행정동</a:t>
            </a:r>
            <a:endParaRPr lang="en-US" sz="1400" dirty="0"/>
          </a:p>
        </p:txBody>
      </p:sp>
      <p:sp>
        <p:nvSpPr>
          <p:cNvPr id="22" name="text-53"/>
          <p:cNvSpPr txBox="1"/>
          <p:nvPr/>
        </p:nvSpPr>
        <p:spPr>
          <a:xfrm>
            <a:off x="3398520" y="3877056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376,485행</a:t>
            </a:r>
            <a:endParaRPr lang="en-US" sz="1400" dirty="0"/>
          </a:p>
        </p:txBody>
      </p:sp>
      <p:sp>
        <p:nvSpPr>
          <p:cNvPr id="23" name="text-54"/>
          <p:cNvSpPr txBox="1"/>
          <p:nvPr/>
        </p:nvSpPr>
        <p:spPr>
          <a:xfrm>
            <a:off x="5745480" y="333756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OA-22178</a:t>
            </a:r>
            <a:endParaRPr lang="en-US" sz="1100" dirty="0"/>
          </a:p>
        </p:txBody>
      </p:sp>
      <p:sp>
        <p:nvSpPr>
          <p:cNvPr id="24" name="text-55"/>
          <p:cNvSpPr txBox="1"/>
          <p:nvPr/>
        </p:nvSpPr>
        <p:spPr>
          <a:xfrm>
            <a:off x="5745480" y="3584448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길단위인구-행정동</a:t>
            </a:r>
            <a:endParaRPr lang="en-US" sz="1400" dirty="0"/>
          </a:p>
        </p:txBody>
      </p:sp>
      <p:sp>
        <p:nvSpPr>
          <p:cNvPr id="25" name="text-56"/>
          <p:cNvSpPr txBox="1"/>
          <p:nvPr/>
        </p:nvSpPr>
        <p:spPr>
          <a:xfrm>
            <a:off x="5745480" y="3877056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9,350행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tx2"/>
                </a:solidFill>
              </a:rPr>
              <a:t>03  ·  DATASET COLUMNS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7132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데이터셋 설명</a:t>
            </a:r>
            <a:endParaRPr lang="en-US" sz="3600" dirty="0"/>
          </a:p>
        </p:txBody>
      </p:sp>
      <p:sp>
        <p:nvSpPr>
          <p:cNvPr id="4" name="text-58"/>
          <p:cNvSpPr txBox="1"/>
          <p:nvPr/>
        </p:nvSpPr>
        <p:spPr>
          <a:xfrm>
            <a:off x="7406640" y="4681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05</a:t>
            </a:r>
            <a:r>
              <a:rPr lang="en-US" sz="1000" dirty="0">
                <a:solidFill>
                  <a:schemeClr val="accent3"/>
                </a:solidFill>
              </a:rPr>
              <a:t>  /  07</a:t>
            </a:r>
            <a:endParaRPr lang="en-US" sz="1000" dirty="0"/>
          </a:p>
        </p:txBody>
      </p:sp>
      <p:sp>
        <p:nvSpPr>
          <p:cNvPr id="5" name="box-59"/>
          <p:cNvSpPr/>
          <p:nvPr/>
        </p:nvSpPr>
        <p:spPr>
          <a:xfrm>
            <a:off x="822960" y="1463040"/>
            <a:ext cx="7498080" cy="658368"/>
          </a:xfrm>
          <a:prstGeom prst="roundRect">
            <a:avLst>
              <a:gd name="adj" fmla="val 43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60"/>
          <p:cNvSpPr txBox="1"/>
          <p:nvPr/>
        </p:nvSpPr>
        <p:spPr>
          <a:xfrm>
            <a:off x="1051560" y="14630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공통 키</a:t>
            </a:r>
            <a:endParaRPr lang="en-US" sz="1300" dirty="0"/>
          </a:p>
        </p:txBody>
      </p:sp>
      <p:sp>
        <p:nvSpPr>
          <p:cNvPr id="7" name="text-61"/>
          <p:cNvSpPr txBox="1"/>
          <p:nvPr/>
        </p:nvSpPr>
        <p:spPr>
          <a:xfrm>
            <a:off x="1874520" y="1536192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STDR_YYQU_CD</a:t>
            </a:r>
            <a:r>
              <a:rPr lang="en-US" sz="1100" dirty="0">
                <a:solidFill>
                  <a:schemeClr val="tx2"/>
                </a:solidFill>
              </a:rPr>
              <a:t> 기준 분기   </a:t>
            </a: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ADSTRD_CD</a:t>
            </a:r>
            <a:r>
              <a:rPr lang="en-US" sz="1100" dirty="0">
                <a:solidFill>
                  <a:schemeClr val="tx2"/>
                </a:solidFill>
              </a:rPr>
              <a:t> 행정동   </a:t>
            </a: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SVC_INDUTY_CD</a:t>
            </a:r>
            <a:r>
              <a:rPr lang="en-US" sz="1100" dirty="0">
                <a:solidFill>
                  <a:schemeClr val="tx2"/>
                </a:solidFill>
              </a:rPr>
              <a:t> 업종</a:t>
            </a:r>
            <a:endParaRPr lang="en-US" sz="1100" dirty="0"/>
          </a:p>
        </p:txBody>
      </p:sp>
      <p:sp>
        <p:nvSpPr>
          <p:cNvPr id="8" name="text-62"/>
          <p:cNvSpPr txBox="1"/>
          <p:nvPr/>
        </p:nvSpPr>
        <p:spPr>
          <a:xfrm>
            <a:off x="1874520" y="1810512"/>
            <a:ext cx="626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→ 세 데이터를 하나로 연결하는 키이자 분석 단위 (분기 × 행정동 × 업종)</a:t>
            </a:r>
            <a:endParaRPr lang="en-US" sz="1100" dirty="0"/>
          </a:p>
        </p:txBody>
      </p:sp>
      <p:sp>
        <p:nvSpPr>
          <p:cNvPr id="9" name="text-63"/>
          <p:cNvSpPr txBox="1"/>
          <p:nvPr/>
        </p:nvSpPr>
        <p:spPr>
          <a:xfrm>
            <a:off x="822960" y="228600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stores.csv</a:t>
            </a:r>
            <a:r>
              <a:rPr lang="en-US" sz="1000" dirty="0">
                <a:solidFill>
                  <a:schemeClr val="tx2"/>
                </a:solidFill>
              </a:rPr>
              <a:t>  점포 · 12개 컬럼</a:t>
            </a:r>
            <a:endParaRPr lang="en-US" sz="1100" dirty="0"/>
          </a:p>
        </p:txBody>
      </p:sp>
      <p:sp>
        <p:nvSpPr>
          <p:cNvPr id="10" name="rule-64"/>
          <p:cNvSpPr/>
          <p:nvPr/>
        </p:nvSpPr>
        <p:spPr>
          <a:xfrm>
            <a:off x="822960" y="2578608"/>
            <a:ext cx="23469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-65"/>
          <p:cNvSpPr txBox="1"/>
          <p:nvPr/>
        </p:nvSpPr>
        <p:spPr>
          <a:xfrm>
            <a:off x="822960" y="267004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STOR_CO</a:t>
            </a:r>
            <a:endParaRPr lang="en-US" sz="950" dirty="0"/>
          </a:p>
        </p:txBody>
      </p:sp>
      <p:sp>
        <p:nvSpPr>
          <p:cNvPr id="12" name="text-66"/>
          <p:cNvSpPr txBox="1"/>
          <p:nvPr/>
        </p:nvSpPr>
        <p:spPr>
          <a:xfrm>
            <a:off x="822960" y="284378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점포 수 → 상권 규모</a:t>
            </a:r>
            <a:endParaRPr lang="en-US" sz="1000" dirty="0"/>
          </a:p>
        </p:txBody>
      </p:sp>
      <p:sp>
        <p:nvSpPr>
          <p:cNvPr id="13" name="text-67"/>
          <p:cNvSpPr txBox="1"/>
          <p:nvPr/>
        </p:nvSpPr>
        <p:spPr>
          <a:xfrm>
            <a:off x="822960" y="3054096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SIMILR_INDUTY_STOR_CO</a:t>
            </a:r>
            <a:endParaRPr lang="en-US" sz="950" dirty="0"/>
          </a:p>
        </p:txBody>
      </p:sp>
      <p:sp>
        <p:nvSpPr>
          <p:cNvPr id="14" name="text-68"/>
          <p:cNvSpPr txBox="1"/>
          <p:nvPr/>
        </p:nvSpPr>
        <p:spPr>
          <a:xfrm>
            <a:off x="822960" y="3227832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유사업종 점포 수 → 경쟁 강도</a:t>
            </a:r>
            <a:endParaRPr lang="en-US" sz="1000" dirty="0"/>
          </a:p>
        </p:txBody>
      </p:sp>
      <p:sp>
        <p:nvSpPr>
          <p:cNvPr id="15" name="text-69"/>
          <p:cNvSpPr txBox="1"/>
          <p:nvPr/>
        </p:nvSpPr>
        <p:spPr>
          <a:xfrm>
            <a:off x="822960" y="343814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FRC_STOR_CO</a:t>
            </a:r>
            <a:endParaRPr lang="en-US" sz="950" dirty="0"/>
          </a:p>
        </p:txBody>
      </p:sp>
      <p:sp>
        <p:nvSpPr>
          <p:cNvPr id="16" name="text-70"/>
          <p:cNvSpPr txBox="1"/>
          <p:nvPr/>
        </p:nvSpPr>
        <p:spPr>
          <a:xfrm>
            <a:off x="822960" y="3611880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프랜차이즈 점포 수 → 프랜차이즈 비율</a:t>
            </a:r>
            <a:endParaRPr lang="en-US" sz="1000" dirty="0"/>
          </a:p>
        </p:txBody>
      </p:sp>
      <p:sp>
        <p:nvSpPr>
          <p:cNvPr id="17" name="text-71"/>
          <p:cNvSpPr txBox="1"/>
          <p:nvPr/>
        </p:nvSpPr>
        <p:spPr>
          <a:xfrm>
            <a:off x="822960" y="3822192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OPBIZ_RT</a:t>
            </a:r>
            <a:endParaRPr lang="en-US" sz="950" dirty="0"/>
          </a:p>
        </p:txBody>
      </p:sp>
      <p:sp>
        <p:nvSpPr>
          <p:cNvPr id="18" name="text-72"/>
          <p:cNvSpPr txBox="1"/>
          <p:nvPr/>
        </p:nvSpPr>
        <p:spPr>
          <a:xfrm>
            <a:off x="822960" y="399592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개업률 → 신규 경쟁 유입</a:t>
            </a:r>
            <a:endParaRPr lang="en-US" sz="1000" dirty="0"/>
          </a:p>
        </p:txBody>
      </p:sp>
      <p:sp>
        <p:nvSpPr>
          <p:cNvPr id="19" name="text-73"/>
          <p:cNvSpPr txBox="1"/>
          <p:nvPr/>
        </p:nvSpPr>
        <p:spPr>
          <a:xfrm>
            <a:off x="822960" y="4206240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CLSBIZ_RT</a:t>
            </a:r>
            <a:endParaRPr lang="en-US" sz="950" dirty="0"/>
          </a:p>
        </p:txBody>
      </p:sp>
      <p:sp>
        <p:nvSpPr>
          <p:cNvPr id="20" name="text-74"/>
          <p:cNvSpPr txBox="1"/>
          <p:nvPr/>
        </p:nvSpPr>
        <p:spPr>
          <a:xfrm>
            <a:off x="822960" y="4379976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폐업률 → 예측 대상(다음 분기)의 원천</a:t>
            </a:r>
            <a:endParaRPr lang="en-US" sz="1000" dirty="0"/>
          </a:p>
        </p:txBody>
      </p:sp>
      <p:sp>
        <p:nvSpPr>
          <p:cNvPr id="21" name="text-75"/>
          <p:cNvSpPr txBox="1"/>
          <p:nvPr/>
        </p:nvSpPr>
        <p:spPr>
          <a:xfrm>
            <a:off x="3398520" y="228600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sales.csv</a:t>
            </a:r>
            <a:r>
              <a:rPr lang="en-US" sz="1000" dirty="0">
                <a:solidFill>
                  <a:schemeClr val="tx2"/>
                </a:solidFill>
              </a:rPr>
              <a:t>  추정매출 · 53개 컬럼</a:t>
            </a:r>
            <a:endParaRPr lang="en-US" sz="1100" dirty="0"/>
          </a:p>
        </p:txBody>
      </p:sp>
      <p:sp>
        <p:nvSpPr>
          <p:cNvPr id="22" name="rule-76"/>
          <p:cNvSpPr/>
          <p:nvPr/>
        </p:nvSpPr>
        <p:spPr>
          <a:xfrm>
            <a:off x="3398520" y="2578608"/>
            <a:ext cx="23469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77"/>
          <p:cNvSpPr txBox="1"/>
          <p:nvPr/>
        </p:nvSpPr>
        <p:spPr>
          <a:xfrm>
            <a:off x="3398520" y="267004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THSMON_SELNG_AMT</a:t>
            </a:r>
            <a:endParaRPr lang="en-US" sz="950" dirty="0"/>
          </a:p>
        </p:txBody>
      </p:sp>
      <p:sp>
        <p:nvSpPr>
          <p:cNvPr id="24" name="text-78"/>
          <p:cNvSpPr txBox="1"/>
          <p:nvPr/>
        </p:nvSpPr>
        <p:spPr>
          <a:xfrm>
            <a:off x="3398520" y="284378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분기 매출 금액 → 매출 규모 · 증감률</a:t>
            </a:r>
            <a:endParaRPr lang="en-US" sz="1000" dirty="0"/>
          </a:p>
        </p:txBody>
      </p:sp>
      <p:sp>
        <p:nvSpPr>
          <p:cNvPr id="25" name="text-79"/>
          <p:cNvSpPr txBox="1"/>
          <p:nvPr/>
        </p:nvSpPr>
        <p:spPr>
          <a:xfrm>
            <a:off x="3398520" y="3054096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THSMON_SELNG_CO</a:t>
            </a:r>
            <a:endParaRPr lang="en-US" sz="950" dirty="0"/>
          </a:p>
        </p:txBody>
      </p:sp>
      <p:sp>
        <p:nvSpPr>
          <p:cNvPr id="26" name="text-80"/>
          <p:cNvSpPr txBox="1"/>
          <p:nvPr/>
        </p:nvSpPr>
        <p:spPr>
          <a:xfrm>
            <a:off x="3398520" y="3227832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분기 매출 건수 → 거래량</a:t>
            </a:r>
            <a:endParaRPr lang="en-US" sz="1000" dirty="0"/>
          </a:p>
        </p:txBody>
      </p:sp>
      <p:sp>
        <p:nvSpPr>
          <p:cNvPr id="27" name="text-81"/>
          <p:cNvSpPr txBox="1"/>
          <p:nvPr/>
        </p:nvSpPr>
        <p:spPr>
          <a:xfrm>
            <a:off x="3398520" y="343814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MDWK / WKEND_SELNG_*</a:t>
            </a:r>
            <a:endParaRPr lang="en-US" sz="950" dirty="0"/>
          </a:p>
        </p:txBody>
      </p:sp>
      <p:sp>
        <p:nvSpPr>
          <p:cNvPr id="28" name="text-82"/>
          <p:cNvSpPr txBox="1"/>
          <p:nvPr/>
        </p:nvSpPr>
        <p:spPr>
          <a:xfrm>
            <a:off x="3398520" y="3611880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주중 · 주말 매출 → 주말 비중</a:t>
            </a:r>
            <a:endParaRPr lang="en-US" sz="1000" dirty="0"/>
          </a:p>
        </p:txBody>
      </p:sp>
      <p:sp>
        <p:nvSpPr>
          <p:cNvPr id="29" name="text-83"/>
          <p:cNvSpPr txBox="1"/>
          <p:nvPr/>
        </p:nvSpPr>
        <p:spPr>
          <a:xfrm>
            <a:off x="3398520" y="3822192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요일 · 시간대 · 성별 · 연령대</a:t>
            </a:r>
            <a:endParaRPr lang="en-US" sz="950" dirty="0"/>
          </a:p>
        </p:txBody>
      </p:sp>
      <p:sp>
        <p:nvSpPr>
          <p:cNvPr id="30" name="text-84"/>
          <p:cNvSpPr txBox="1"/>
          <p:nvPr/>
        </p:nvSpPr>
        <p:spPr>
          <a:xfrm>
            <a:off x="3398520" y="399592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세부 매출 42개 → 고객 특성 (보조)</a:t>
            </a:r>
            <a:endParaRPr lang="en-US" sz="1000" dirty="0"/>
          </a:p>
        </p:txBody>
      </p:sp>
      <p:sp>
        <p:nvSpPr>
          <p:cNvPr id="31" name="text-85"/>
          <p:cNvSpPr txBox="1"/>
          <p:nvPr/>
        </p:nvSpPr>
        <p:spPr>
          <a:xfrm>
            <a:off x="5974080" y="228600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flpop.csv</a:t>
            </a:r>
            <a:r>
              <a:rPr lang="en-US" sz="1000" dirty="0">
                <a:solidFill>
                  <a:schemeClr val="tx2"/>
                </a:solidFill>
              </a:rPr>
              <a:t>  길단위인구 · 25개 컬럼</a:t>
            </a:r>
            <a:endParaRPr lang="en-US" sz="1100" dirty="0"/>
          </a:p>
        </p:txBody>
      </p:sp>
      <p:sp>
        <p:nvSpPr>
          <p:cNvPr id="32" name="rule-86"/>
          <p:cNvSpPr/>
          <p:nvPr/>
        </p:nvSpPr>
        <p:spPr>
          <a:xfrm>
            <a:off x="5974080" y="2578608"/>
            <a:ext cx="23469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-87"/>
          <p:cNvSpPr txBox="1"/>
          <p:nvPr/>
        </p:nvSpPr>
        <p:spPr>
          <a:xfrm>
            <a:off x="5974080" y="267004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TOT_FLPOP_CO</a:t>
            </a:r>
            <a:endParaRPr lang="en-US" sz="950" dirty="0"/>
          </a:p>
        </p:txBody>
      </p:sp>
      <p:sp>
        <p:nvSpPr>
          <p:cNvPr id="34" name="text-88"/>
          <p:cNvSpPr txBox="1"/>
          <p:nvPr/>
        </p:nvSpPr>
        <p:spPr>
          <a:xfrm>
            <a:off x="5974080" y="284378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총 유동인구 → 수요 규모</a:t>
            </a:r>
            <a:endParaRPr lang="en-US" sz="1000" dirty="0"/>
          </a:p>
        </p:txBody>
      </p:sp>
      <p:sp>
        <p:nvSpPr>
          <p:cNvPr id="35" name="text-89"/>
          <p:cNvSpPr txBox="1"/>
          <p:nvPr/>
        </p:nvSpPr>
        <p:spPr>
          <a:xfrm>
            <a:off x="5974080" y="3054096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 ÷ 점포 수</a:t>
            </a:r>
            <a:endParaRPr lang="en-US" sz="950" dirty="0"/>
          </a:p>
        </p:txBody>
      </p:sp>
      <p:sp>
        <p:nvSpPr>
          <p:cNvPr id="36" name="text-90"/>
          <p:cNvSpPr txBox="1"/>
          <p:nvPr/>
        </p:nvSpPr>
        <p:spPr>
          <a:xfrm>
            <a:off x="5974080" y="3227832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점포당 유동인구 → 과밀도</a:t>
            </a:r>
            <a:endParaRPr lang="en-US" sz="1000" dirty="0"/>
          </a:p>
        </p:txBody>
      </p:sp>
      <p:sp>
        <p:nvSpPr>
          <p:cNvPr id="37" name="text-91"/>
          <p:cNvSpPr txBox="1"/>
          <p:nvPr/>
        </p:nvSpPr>
        <p:spPr>
          <a:xfrm>
            <a:off x="5974080" y="343814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 ~ SUN_FLPOP_CO</a:t>
            </a:r>
            <a:endParaRPr lang="en-US" sz="950" dirty="0"/>
          </a:p>
        </p:txBody>
      </p:sp>
      <p:sp>
        <p:nvSpPr>
          <p:cNvPr id="38" name="text-92"/>
          <p:cNvSpPr txBox="1"/>
          <p:nvPr/>
        </p:nvSpPr>
        <p:spPr>
          <a:xfrm>
            <a:off x="5974080" y="3611880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요일별 유동인구 → 주말 비중</a:t>
            </a:r>
            <a:endParaRPr lang="en-US" sz="1000" dirty="0"/>
          </a:p>
        </p:txBody>
      </p:sp>
      <p:sp>
        <p:nvSpPr>
          <p:cNvPr id="39" name="text-93"/>
          <p:cNvSpPr txBox="1"/>
          <p:nvPr/>
        </p:nvSpPr>
        <p:spPr>
          <a:xfrm>
            <a:off x="5974080" y="3822192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성별 · 연령대 · 시간대</a:t>
            </a:r>
            <a:endParaRPr lang="en-US" sz="950" dirty="0"/>
          </a:p>
        </p:txBody>
      </p:sp>
      <p:sp>
        <p:nvSpPr>
          <p:cNvPr id="40" name="text-94"/>
          <p:cNvSpPr txBox="1"/>
          <p:nvPr/>
        </p:nvSpPr>
        <p:spPr>
          <a:xfrm>
            <a:off x="5974080" y="399592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세부 유동인구 14개 → 구성 (보조)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tx2"/>
                </a:solidFill>
              </a:rPr>
              <a:t>04  ·  RAW DATA SAMPLE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7132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데이터셋 예시</a:t>
            </a:r>
            <a:endParaRPr lang="en-US" sz="3600" dirty="0"/>
          </a:p>
        </p:txBody>
      </p:sp>
      <p:sp>
        <p:nvSpPr>
          <p:cNvPr id="4" name="text-95"/>
          <p:cNvSpPr txBox="1"/>
          <p:nvPr/>
        </p:nvSpPr>
        <p:spPr>
          <a:xfrm>
            <a:off x="7406640" y="4681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06</a:t>
            </a:r>
            <a:r>
              <a:rPr lang="en-US" sz="1000" dirty="0">
                <a:solidFill>
                  <a:schemeClr val="accent3"/>
                </a:solidFill>
              </a:rPr>
              <a:t>  /  07</a:t>
            </a:r>
            <a:endParaRPr lang="en-US" sz="1000" dirty="0"/>
          </a:p>
        </p:txBody>
      </p:sp>
      <p:sp>
        <p:nvSpPr>
          <p:cNvPr id="5" name="box-96"/>
          <p:cNvSpPr/>
          <p:nvPr/>
        </p:nvSpPr>
        <p:spPr>
          <a:xfrm>
            <a:off x="822960" y="1463040"/>
            <a:ext cx="7498080" cy="2103120"/>
          </a:xfrm>
          <a:prstGeom prst="roundRect">
            <a:avLst>
              <a:gd name="adj" fmla="val 135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97"/>
          <p:cNvSpPr txBox="1"/>
          <p:nvPr/>
        </p:nvSpPr>
        <p:spPr>
          <a:xfrm>
            <a:off x="960120" y="157276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stores.csv</a:t>
            </a:r>
            <a:r>
              <a:rPr lang="en-US" sz="1100" dirty="0">
                <a:solidFill>
                  <a:schemeClr val="tx2"/>
                </a:solidFill>
              </a:rPr>
              <a:t>   점포-행정동 · </a:t>
            </a:r>
            <a:r>
              <a:rPr lang="en-US" sz="1100" dirty="0" err="1">
                <a:solidFill>
                  <a:schemeClr val="tx2"/>
                </a:solidFill>
              </a:rPr>
              <a:t>원본</a:t>
            </a:r>
            <a:r>
              <a:rPr lang="en-US" sz="1100" dirty="0">
                <a:solidFill>
                  <a:schemeClr val="tx2"/>
                </a:solidFill>
              </a:rPr>
              <a:t> (양천구 신월7동 · 2025년 2분기)</a:t>
            </a:r>
            <a:endParaRPr lang="en-US" sz="1100" dirty="0"/>
          </a:p>
        </p:txBody>
      </p:sp>
      <p:graphicFrame>
        <p:nvGraphicFramePr>
          <p:cNvPr id="7" name="raw-table-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920240"/>
          <a:ext cx="7223760" cy="148132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STDR_​YYQU_​CD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ADSTRD_​CD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ADSTRD_​CD_​NM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SVC_​INDUTY_​CD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SVC_​INDUTY_​CD_​NM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SIMILR_​INDUTY_​STOR_​CO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STOR_​CO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FRC_​STOR_​CO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OPBIZ_​RT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OPBIZ_​STOR_​CO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CLSBIZ_​RT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CLSBIZ_​STOR_​CO</a:t>
                      </a:r>
                      <a:endParaRPr lang="en-US" sz="8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20252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11470611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신월7동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CS100001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한식음식점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72.0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67.0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5.0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6.0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4.0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20252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11470611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신월7동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CS100002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중식음식점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5.0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5.0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20.0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1.0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20.0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1.0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20252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11470611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신월7동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CS100010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커피-음료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13.0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7.0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6.0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23.0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</a:rPr>
                        <a:t>3.0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20252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11470611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신월7동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CS300002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편의점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12.0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4.0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8.0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box-99"/>
          <p:cNvSpPr/>
          <p:nvPr/>
        </p:nvSpPr>
        <p:spPr>
          <a:xfrm>
            <a:off x="822960" y="3703320"/>
            <a:ext cx="3703320" cy="749808"/>
          </a:xfrm>
          <a:prstGeom prst="roundRect">
            <a:avLst>
              <a:gd name="adj" fmla="val 381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-100"/>
          <p:cNvSpPr txBox="1"/>
          <p:nvPr/>
        </p:nvSpPr>
        <p:spPr>
          <a:xfrm>
            <a:off x="1051560" y="37856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sales.csv</a:t>
            </a:r>
            <a:r>
              <a:rPr lang="en-US" sz="1000" dirty="0">
                <a:solidFill>
                  <a:schemeClr val="accent3"/>
                </a:solidFill>
              </a:rPr>
              <a:t>   추정매출 · 53개 컬럼</a:t>
            </a:r>
            <a:endParaRPr lang="en-US" sz="1000" dirty="0"/>
          </a:p>
        </p:txBody>
      </p:sp>
      <p:sp>
        <p:nvSpPr>
          <p:cNvPr id="10" name="text-101"/>
          <p:cNvSpPr txBox="1"/>
          <p:nvPr/>
        </p:nvSpPr>
        <p:spPr>
          <a:xfrm>
            <a:off x="1051560" y="40233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20252,11470611,신월7동,CS100010,커피-음료,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110103427.0,20345.0,76189664.0,33913763.0,…</a:t>
            </a:r>
            <a:endParaRPr lang="en-US" sz="900" dirty="0"/>
          </a:p>
        </p:txBody>
      </p:sp>
      <p:sp>
        <p:nvSpPr>
          <p:cNvPr id="11" name="box-102"/>
          <p:cNvSpPr/>
          <p:nvPr/>
        </p:nvSpPr>
        <p:spPr>
          <a:xfrm>
            <a:off x="4617720" y="3703320"/>
            <a:ext cx="3703320" cy="749808"/>
          </a:xfrm>
          <a:prstGeom prst="roundRect">
            <a:avLst>
              <a:gd name="adj" fmla="val 381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-103"/>
          <p:cNvSpPr txBox="1"/>
          <p:nvPr/>
        </p:nvSpPr>
        <p:spPr>
          <a:xfrm>
            <a:off x="4846320" y="37856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flpop.csv</a:t>
            </a:r>
            <a:r>
              <a:rPr lang="en-US" sz="1000" dirty="0">
                <a:solidFill>
                  <a:schemeClr val="accent3"/>
                </a:solidFill>
              </a:rPr>
              <a:t>   길단위인구 · 25개 컬럼</a:t>
            </a:r>
            <a:endParaRPr lang="en-US" sz="1000" dirty="0"/>
          </a:p>
        </p:txBody>
      </p:sp>
      <p:sp>
        <p:nvSpPr>
          <p:cNvPr id="13" name="text-104"/>
          <p:cNvSpPr txBox="1"/>
          <p:nvPr/>
        </p:nvSpPr>
        <p:spPr>
          <a:xfrm>
            <a:off x="4846320" y="40233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20252,11470611,신월7동,2027944.0,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971469.0,1056475.0,320243.0,198304.0,…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tx2"/>
                </a:solidFill>
              </a:rPr>
              <a:t>05  ·  NEXT STEPS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7132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향후 계획</a:t>
            </a:r>
            <a:endParaRPr lang="en-US" sz="3600" dirty="0"/>
          </a:p>
        </p:txBody>
      </p:sp>
      <p:sp>
        <p:nvSpPr>
          <p:cNvPr id="4" name="text-105"/>
          <p:cNvSpPr txBox="1"/>
          <p:nvPr/>
        </p:nvSpPr>
        <p:spPr>
          <a:xfrm>
            <a:off x="7406640" y="4681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07</a:t>
            </a:r>
            <a:r>
              <a:rPr lang="en-US" sz="1000" dirty="0">
                <a:solidFill>
                  <a:schemeClr val="accent3"/>
                </a:solidFill>
              </a:rPr>
              <a:t>  /  07</a:t>
            </a:r>
            <a:endParaRPr lang="en-US" sz="1000" dirty="0"/>
          </a:p>
        </p:txBody>
      </p:sp>
      <p:sp>
        <p:nvSpPr>
          <p:cNvPr id="5" name="text-106"/>
          <p:cNvSpPr txBox="1"/>
          <p:nvPr/>
        </p:nvSpPr>
        <p:spPr>
          <a:xfrm>
            <a:off x="82296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추후 진행할 작업</a:t>
            </a:r>
            <a:endParaRPr lang="en-US" sz="1400" dirty="0"/>
          </a:p>
        </p:txBody>
      </p:sp>
      <p:sp>
        <p:nvSpPr>
          <p:cNvPr id="6" name="rule-107"/>
          <p:cNvSpPr/>
          <p:nvPr/>
        </p:nvSpPr>
        <p:spPr>
          <a:xfrm>
            <a:off x="822960" y="1892808"/>
            <a:ext cx="31089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108"/>
          <p:cNvSpPr txBox="1"/>
          <p:nvPr/>
        </p:nvSpPr>
        <p:spPr>
          <a:xfrm>
            <a:off x="822960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-109"/>
          <p:cNvSpPr txBox="1"/>
          <p:nvPr/>
        </p:nvSpPr>
        <p:spPr>
          <a:xfrm>
            <a:off x="1234440" y="202996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전처리</a:t>
            </a:r>
            <a:endParaRPr lang="en-US" sz="1300" dirty="0"/>
          </a:p>
        </p:txBody>
      </p:sp>
      <p:sp>
        <p:nvSpPr>
          <p:cNvPr id="10" name="text-111"/>
          <p:cNvSpPr txBox="1"/>
          <p:nvPr/>
        </p:nvSpPr>
        <p:spPr>
          <a:xfrm>
            <a:off x="822960" y="253060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-112"/>
          <p:cNvSpPr txBox="1"/>
          <p:nvPr/>
        </p:nvSpPr>
        <p:spPr>
          <a:xfrm>
            <a:off x="1234440" y="253060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결측치 </a:t>
            </a:r>
            <a:r>
              <a:rPr lang="en-US" sz="1300" b="1" dirty="0" err="1">
                <a:solidFill>
                  <a:schemeClr val="tx1"/>
                </a:solidFill>
              </a:rPr>
              <a:t>처리</a:t>
            </a:r>
            <a:r>
              <a:rPr lang="en-US" sz="1300" b="1" dirty="0">
                <a:solidFill>
                  <a:schemeClr val="tx1"/>
                </a:solidFill>
              </a:rPr>
              <a:t> </a:t>
            </a:r>
            <a:r>
              <a:rPr lang="en-US" sz="1300" b="1" dirty="0" err="1">
                <a:solidFill>
                  <a:schemeClr val="tx1"/>
                </a:solidFill>
              </a:rPr>
              <a:t>비교</a:t>
            </a:r>
            <a:endParaRPr lang="en-US" sz="1300" dirty="0"/>
          </a:p>
        </p:txBody>
      </p:sp>
      <p:sp>
        <p:nvSpPr>
          <p:cNvPr id="13" name="text-114"/>
          <p:cNvSpPr txBox="1"/>
          <p:nvPr/>
        </p:nvSpPr>
        <p:spPr>
          <a:xfrm>
            <a:off x="822960" y="30312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-115"/>
          <p:cNvSpPr txBox="1"/>
          <p:nvPr/>
        </p:nvSpPr>
        <p:spPr>
          <a:xfrm>
            <a:off x="1234440" y="303123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모델 학습</a:t>
            </a:r>
            <a:endParaRPr lang="en-US" sz="1300" dirty="0"/>
          </a:p>
        </p:txBody>
      </p:sp>
      <p:sp>
        <p:nvSpPr>
          <p:cNvPr id="16" name="text-117"/>
          <p:cNvSpPr txBox="1"/>
          <p:nvPr/>
        </p:nvSpPr>
        <p:spPr>
          <a:xfrm>
            <a:off x="822960" y="353187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-118"/>
          <p:cNvSpPr txBox="1"/>
          <p:nvPr/>
        </p:nvSpPr>
        <p:spPr>
          <a:xfrm>
            <a:off x="1234440" y="353187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원인 분석</a:t>
            </a:r>
            <a:endParaRPr lang="en-US" sz="1300" dirty="0"/>
          </a:p>
        </p:txBody>
      </p:sp>
      <p:sp>
        <p:nvSpPr>
          <p:cNvPr id="19" name="text-120"/>
          <p:cNvSpPr txBox="1"/>
          <p:nvPr/>
        </p:nvSpPr>
        <p:spPr>
          <a:xfrm>
            <a:off x="822960" y="40325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05</a:t>
            </a:r>
            <a:endParaRPr lang="en-US" sz="1300" dirty="0"/>
          </a:p>
        </p:txBody>
      </p:sp>
      <p:sp>
        <p:nvSpPr>
          <p:cNvPr id="20" name="text-121"/>
          <p:cNvSpPr txBox="1"/>
          <p:nvPr/>
        </p:nvSpPr>
        <p:spPr>
          <a:xfrm>
            <a:off x="1234440" y="403250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웹 서비스 개발 · 배포</a:t>
            </a:r>
            <a:endParaRPr lang="en-US" sz="1300" dirty="0"/>
          </a:p>
        </p:txBody>
      </p:sp>
      <p:sp>
        <p:nvSpPr>
          <p:cNvPr id="22" name="box-123"/>
          <p:cNvSpPr/>
          <p:nvPr/>
        </p:nvSpPr>
        <p:spPr>
          <a:xfrm>
            <a:off x="4251960" y="1554480"/>
            <a:ext cx="4069080" cy="2944368"/>
          </a:xfrm>
          <a:prstGeom prst="roundRect">
            <a:avLst>
              <a:gd name="adj" fmla="val 97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124"/>
          <p:cNvSpPr txBox="1"/>
          <p:nvPr/>
        </p:nvSpPr>
        <p:spPr>
          <a:xfrm>
            <a:off x="4480560" y="1783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결측치 </a:t>
            </a:r>
            <a:r>
              <a:rPr lang="en-US" sz="1400" b="1" dirty="0" err="1">
                <a:solidFill>
                  <a:schemeClr val="tx1"/>
                </a:solidFill>
              </a:rPr>
              <a:t>처리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b="1" dirty="0" err="1">
                <a:solidFill>
                  <a:schemeClr val="tx1"/>
                </a:solidFill>
              </a:rPr>
              <a:t>비교</a:t>
            </a:r>
            <a:endParaRPr lang="en-US" sz="1400" dirty="0"/>
          </a:p>
        </p:txBody>
      </p:sp>
      <p:sp>
        <p:nvSpPr>
          <p:cNvPr id="24" name="text-125"/>
          <p:cNvSpPr txBox="1"/>
          <p:nvPr/>
        </p:nvSpPr>
        <p:spPr>
          <a:xfrm>
            <a:off x="4480560" y="20848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왜 필요한가  </a:t>
            </a:r>
            <a:r>
              <a:rPr lang="en-US" sz="1000" dirty="0">
                <a:solidFill>
                  <a:schemeClr val="tx2"/>
                </a:solidFill>
              </a:rPr>
              <a:t>결측 대부분이 구조적으로 없는 값 — 100개 업종 중 37개는 추정매출이 없고, 직전 분기가 없으면 증감률 계산 불가</a:t>
            </a:r>
            <a:endParaRPr lang="en-US" sz="1000" dirty="0"/>
          </a:p>
        </p:txBody>
      </p:sp>
      <p:sp>
        <p:nvSpPr>
          <p:cNvPr id="25" name="badge-126"/>
          <p:cNvSpPr/>
          <p:nvPr/>
        </p:nvSpPr>
        <p:spPr>
          <a:xfrm>
            <a:off x="4480560" y="257860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127"/>
          <p:cNvSpPr txBox="1"/>
          <p:nvPr/>
        </p:nvSpPr>
        <p:spPr>
          <a:xfrm>
            <a:off x="4480560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27" name="text-128"/>
          <p:cNvSpPr txBox="1"/>
          <p:nvPr/>
        </p:nvSpPr>
        <p:spPr>
          <a:xfrm>
            <a:off x="4910328" y="2629725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 err="1">
                <a:solidFill>
                  <a:schemeClr val="tx1"/>
                </a:solidFill>
              </a:rPr>
              <a:t>중앙값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 err="1">
                <a:solidFill>
                  <a:schemeClr val="tx1"/>
                </a:solidFill>
              </a:rPr>
              <a:t>대</a:t>
            </a:r>
            <a:r>
              <a:rPr lang="ko-KR" altLang="en-US" sz="1200" b="1" dirty="0">
                <a:solidFill>
                  <a:schemeClr val="tx1"/>
                </a:solidFill>
              </a:rPr>
              <a:t>체</a:t>
            </a:r>
            <a:endParaRPr lang="en-US" sz="1200" dirty="0"/>
          </a:p>
        </p:txBody>
      </p:sp>
      <p:sp>
        <p:nvSpPr>
          <p:cNvPr id="29" name="badge-130"/>
          <p:cNvSpPr/>
          <p:nvPr/>
        </p:nvSpPr>
        <p:spPr>
          <a:xfrm>
            <a:off x="4480560" y="299008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-131"/>
          <p:cNvSpPr txBox="1"/>
          <p:nvPr/>
        </p:nvSpPr>
        <p:spPr>
          <a:xfrm>
            <a:off x="448056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B</a:t>
            </a:r>
            <a:endParaRPr lang="en-US" sz="1100" dirty="0"/>
          </a:p>
        </p:txBody>
      </p:sp>
      <p:sp>
        <p:nvSpPr>
          <p:cNvPr id="31" name="text-132"/>
          <p:cNvSpPr txBox="1"/>
          <p:nvPr/>
        </p:nvSpPr>
        <p:spPr>
          <a:xfrm>
            <a:off x="4910328" y="3041205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표시값 + 결측 표시</a:t>
            </a:r>
            <a:endParaRPr lang="en-US" sz="1200" dirty="0"/>
          </a:p>
        </p:txBody>
      </p:sp>
      <p:sp>
        <p:nvSpPr>
          <p:cNvPr id="33" name="badge-134"/>
          <p:cNvSpPr/>
          <p:nvPr/>
        </p:nvSpPr>
        <p:spPr>
          <a:xfrm>
            <a:off x="4480560" y="340156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-135"/>
          <p:cNvSpPr txBox="1"/>
          <p:nvPr/>
        </p:nvSpPr>
        <p:spPr>
          <a:xfrm>
            <a:off x="4480560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</a:t>
            </a:r>
            <a:endParaRPr lang="en-US" sz="1100" dirty="0"/>
          </a:p>
        </p:txBody>
      </p:sp>
      <p:sp>
        <p:nvSpPr>
          <p:cNvPr id="35" name="text-136"/>
          <p:cNvSpPr txBox="1"/>
          <p:nvPr/>
        </p:nvSpPr>
        <p:spPr>
          <a:xfrm>
            <a:off x="4910328" y="3452685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결측 그대로 학습</a:t>
            </a:r>
            <a:endParaRPr lang="en-US" sz="1200" dirty="0"/>
          </a:p>
        </p:txBody>
      </p:sp>
      <p:sp>
        <p:nvSpPr>
          <p:cNvPr id="37" name="rule-138"/>
          <p:cNvSpPr/>
          <p:nvPr/>
        </p:nvSpPr>
        <p:spPr>
          <a:xfrm>
            <a:off x="4480560" y="3858768"/>
            <a:ext cx="36118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Mono">
  <a:themeElements>
    <a:clrScheme name="Minimal Mono">
      <a:dk1>
        <a:srgbClr val="333333"/>
      </a:dk1>
      <a:lt1>
        <a:srgbClr val="FFFFFF"/>
      </a:lt1>
      <a:dk2>
        <a:srgbClr val="777777"/>
      </a:dk2>
      <a:lt2>
        <a:srgbClr val="F4F4F4"/>
      </a:lt2>
      <a:accent1>
        <a:srgbClr val="333333"/>
      </a:accent1>
      <a:accent2>
        <a:srgbClr val="777777"/>
      </a:accent2>
      <a:accent3>
        <a:srgbClr val="AAAAAA"/>
      </a:accent3>
      <a:accent4>
        <a:srgbClr val="DDDDDD"/>
      </a:accent4>
      <a:accent5>
        <a:srgbClr val="F4F4F4"/>
      </a:accent5>
      <a:accent6>
        <a:srgbClr val="111111"/>
      </a:accent6>
      <a:hlink>
        <a:srgbClr val="333333"/>
      </a:hlink>
      <a:folHlink>
        <a:srgbClr val="777777"/>
      </a:folHlink>
    </a:clrScheme>
    <a:fontScheme name="Minimal Mono">
      <a:majorFont>
        <a:latin typeface="Pretendard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999</Words>
  <Application>Microsoft Macintosh PowerPoint</Application>
  <PresentationFormat>화면 슬라이드 쇼(16:9)</PresentationFormat>
  <Paragraphs>213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Courier New</vt:lpstr>
      <vt:lpstr>맑은 고딕</vt:lpstr>
      <vt:lpstr>Pretendard</vt:lpstr>
      <vt:lpstr>Arial</vt:lpstr>
      <vt:lpstr>Minimal Mono</vt:lpstr>
      <vt:lpstr>PowerPoint 프레젠테이션</vt:lpstr>
      <vt:lpstr>목차</vt:lpstr>
      <vt:lpstr>프로젝트 개요</vt:lpstr>
      <vt:lpstr>데이터셋 확보 방법</vt:lpstr>
      <vt:lpstr>데이터셋 설명</vt:lpstr>
      <vt:lpstr>데이터셋 예시</vt:lpstr>
      <vt:lpstr>향후 계획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상권 폐업 위험도 진단 서비스 중간 발표</dc:title>
  <dc:subject>PptxGenJS Presentation</dc:subject>
  <dc:creator>정의현</dc:creator>
  <cp:lastModifiedBy>의현 정</cp:lastModifiedBy>
  <cp:revision>9</cp:revision>
  <dcterms:created xsi:type="dcterms:W3CDTF">2026-10-13T10:19:56Z</dcterms:created>
  <dcterms:modified xsi:type="dcterms:W3CDTF">2026-10-14T08:46:57Z</dcterms:modified>
</cp:coreProperties>
</file>